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2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6B7DF-CCAC-7A9C-EA60-510584F20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4B2FEC-A9B0-8F61-3B88-8024BC089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F31EAB-A753-215C-6629-4C4AE486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9C2E2-C1ED-A6BE-2738-A5553167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F1E21E-3EF2-BA2F-731B-6BE21424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839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2B92E-C05F-2CD1-054C-10476033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A024B9-A359-A35D-563D-32CB9D0C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2CD04C-41C0-4857-42B3-61432ECF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DD48DA-6BA3-23D8-55B2-DC1678F5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8909CE-4326-5069-3F38-D45DEC09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4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5F66-7240-8A92-A7C7-F32AEBE32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4DFB07-1222-A7E0-2B43-3D8FBC4CB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15E42B-07C6-C1BC-9862-652B146AB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140329-CAFE-91B6-0947-4A5D8191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35B625-6A50-E2FC-28C0-0C0A27AF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921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A716C-3089-95CC-7C82-B63264A9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B14303-B3A9-2E9B-AF91-19B44CFD9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0E228C-EEF5-7C8C-5606-6D57372AB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A47120-4957-496B-5912-D0C6F3125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641E52-52C7-ABFF-D2F8-99E7EC37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F3AF7E-1E63-8112-06B5-DFC0E393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07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94F00-F7DE-3E91-1287-8B45F08E5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5CE8DE-EE04-9A8E-7CBA-9024A8576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BA6A7F-C2CF-D2F7-6FF4-CDD290FA0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803B42-3DB6-8E53-03D6-AF7126FF0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FED8CC-5822-26B9-C236-68329D8B5A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449213-61D5-7DA4-F873-0DA3A16D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3123C7-1730-27D4-EDAD-19D61A1D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BE8145-4D0C-9848-FCEF-B9DAC792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007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A372D-0359-BF9F-A2E7-6F1055E6C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AC2CE5-279C-7C88-133E-8F1112D3E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2858DB-4C29-8919-AF37-FEF3CE88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030CB2-0A66-DAE8-548C-35A0016B0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84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4CD72A-6929-ED81-95C7-2EB5875F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646D0C-4CE0-9FD8-2B20-2EC3C5E1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2C81DC-E237-40E6-1798-417C077DA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843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A8E42C-0B30-854D-9A80-49BD67DB8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BF905E-42F0-64AB-4D0D-0D02BABE3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CF968D-7211-598E-8294-63BFD5D1B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5C9B15-F433-BCFF-1C73-4FA18920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DA380D-628B-8F34-DF48-6335A4710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4DBAE3-8B64-602F-1EDB-8C6C527E3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471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18EE2-0ECD-EE9F-E846-DE7A2129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AC3FF3-6899-8215-85AC-C2E529C08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DDE36-1EAD-F80A-F1E1-9AA8EC09D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7033C9-6ACF-6CB2-7CF8-CFA30F3BD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2C9ACF-7FD8-29AD-C68A-53638C76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2E8EE3-7962-0A45-3D9E-A624E361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90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4DF36-FB66-57A2-72DD-A52901B0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E03B4E-45E9-DE87-6083-5B29E1765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0396FC-25C3-8BF7-C7F9-D0BCDBA07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0743DA-789F-F058-25F8-24AD72156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6C00D4-AA60-FC71-4EAB-E087F891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09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2BC06D-2DF2-385F-A2C2-42737E76DE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65969F-8678-F6B4-27B5-026EC73D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7AEA51-30AC-8B65-E984-6CD137ED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3BE85C-4AD9-C372-C665-A13CBF66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013602-6132-53A0-F568-7220D16D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479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C5E5D1-87E1-C3C3-18C5-7B7E2C346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8B567A-E775-56EE-868C-E41955C77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7D89F6-6173-C9B6-5435-D30E60B27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F11BC-8CB9-4CA0-B4F5-85AAF6A4F2C0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77244-B9C4-5625-7C06-19B6ED045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4384A3-F838-09DE-A2A2-975355995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ADA2E-1504-40CA-A714-DA740D49A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184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558401-A381-0599-FD6E-0893AF38AE81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B6A985-1C0C-3789-5464-FF716D053CBA}"/>
              </a:ext>
            </a:extLst>
          </p:cNvPr>
          <p:cNvSpPr txBox="1"/>
          <p:nvPr/>
        </p:nvSpPr>
        <p:spPr>
          <a:xfrm>
            <a:off x="558800" y="355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42D4E"/>
                </a:solidFill>
                <a:latin typeface="Aptos Display" panose="020B0004020202020204" pitchFamily="34" charset="0"/>
              </a:rPr>
              <a:t>OccuEVRoute</a:t>
            </a:r>
            <a:endParaRPr lang="zh-CN" altLang="en-US" sz="3000" b="1">
              <a:solidFill>
                <a:srgbClr val="142D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A50534-F005-C318-51AC-00E923125BF9}"/>
              </a:ext>
            </a:extLst>
          </p:cNvPr>
          <p:cNvSpPr txBox="1"/>
          <p:nvPr/>
        </p:nvSpPr>
        <p:spPr>
          <a:xfrm>
            <a:off x="584200" y="965200"/>
            <a:ext cx="9906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300">
                <a:solidFill>
                  <a:srgbClr val="546070"/>
                </a:solidFill>
                <a:latin typeface="Aptos" panose="020B0004020202020204" pitchFamily="34" charset="0"/>
              </a:rPr>
              <a:t>EV charging route planning and congestion-aware recommendation for Shenzhen</a:t>
            </a:r>
            <a:endParaRPr lang="zh-CN" altLang="en-US" sz="13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80D8E1-9588-B3D6-4137-9BE64519CB3D}"/>
              </a:ext>
            </a:extLst>
          </p:cNvPr>
          <p:cNvSpPr txBox="1"/>
          <p:nvPr/>
        </p:nvSpPr>
        <p:spPr>
          <a:xfrm>
            <a:off x="558800" y="6413500"/>
            <a:ext cx="10414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altLang="zh-CN" sz="850">
                <a:solidFill>
                  <a:srgbClr val="546070"/>
                </a:solidFill>
                <a:latin typeface="Aptos" panose="020B0004020202020204" pitchFamily="34" charset="0"/>
              </a:rPr>
              <a:t>OccuEVRoute | DI22001 Algorithms and AI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9B0C1E-E037-DB95-291F-354A8E6521A8}"/>
              </a:ext>
            </a:extLst>
          </p:cNvPr>
          <p:cNvSpPr txBox="1"/>
          <p:nvPr/>
        </p:nvSpPr>
        <p:spPr>
          <a:xfrm>
            <a:off x="11303000" y="6413500"/>
            <a:ext cx="50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850">
                <a:solidFill>
                  <a:srgbClr val="546070"/>
                </a:solidFill>
                <a:latin typeface="Aptos" panose="020B0004020202020204" pitchFamily="34" charset="0"/>
              </a:rPr>
              <a:t>1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F3D318-B490-359B-AA92-C724BB0B16ED}"/>
              </a:ext>
            </a:extLst>
          </p:cNvPr>
          <p:cNvSpPr txBox="1"/>
          <p:nvPr/>
        </p:nvSpPr>
        <p:spPr>
          <a:xfrm>
            <a:off x="698500" y="1803400"/>
            <a:ext cx="914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142D4E"/>
                </a:solidFill>
                <a:latin typeface="Aptos" panose="020B0004020202020204" pitchFamily="34" charset="0"/>
              </a:rPr>
              <a:t>Route search + battery feasibility + ML occupancy prediction</a:t>
            </a:r>
            <a:endParaRPr lang="zh-CN" altLang="en-US" sz="24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AA2664-5F2B-B260-3307-4031E75134E9}"/>
              </a:ext>
            </a:extLst>
          </p:cNvPr>
          <p:cNvSpPr txBox="1"/>
          <p:nvPr/>
        </p:nvSpPr>
        <p:spPr>
          <a:xfrm>
            <a:off x="736600" y="2768600"/>
            <a:ext cx="8763000" cy="99001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21820"/>
                </a:solidFill>
                <a:latin typeface="Aptos" panose="020B0004020202020204" pitchFamily="34" charset="0"/>
              </a:rPr>
              <a:t>- Input: user location, vehicle state, search constraints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21820"/>
                </a:solidFill>
                <a:latin typeface="Aptos" panose="020B0004020202020204" pitchFamily="34" charset="0"/>
              </a:rPr>
              <a:t>- Output: ranked charging stations, routes, SOC, predicted occupancy, diagnostics</a:t>
            </a:r>
          </a:p>
          <a:p>
            <a:pPr>
              <a:spcAft>
                <a:spcPts val="800"/>
              </a:spcAft>
            </a:pPr>
            <a:r>
              <a:rPr lang="en-US" altLang="zh-CN" sz="1700">
                <a:solidFill>
                  <a:srgbClr val="121820"/>
                </a:solidFill>
                <a:latin typeface="Aptos" panose="020B0004020202020204" pitchFamily="34" charset="0"/>
              </a:rPr>
              <a:t>- Goal: explainable course-demo system, not a production navigation product</a:t>
            </a:r>
            <a:endParaRPr lang="zh-CN" altLang="en-US" sz="1700">
              <a:solidFill>
                <a:srgbClr val="121820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A75B8F5-F65A-B688-287B-7BF784A51C1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873500"/>
            <a:ext cx="3810000" cy="22860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7133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FB50BC-8045-BFD5-DEEE-B9E82128F2E3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303C93-02C5-1429-8686-64A491AF41E9}"/>
              </a:ext>
            </a:extLst>
          </p:cNvPr>
          <p:cNvSpPr txBox="1"/>
          <p:nvPr/>
        </p:nvSpPr>
        <p:spPr>
          <a:xfrm>
            <a:off x="558800" y="355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42D4E"/>
                </a:solidFill>
                <a:latin typeface="Aptos Display" panose="020B0004020202020204" pitchFamily="34" charset="0"/>
              </a:rPr>
              <a:t>Problem Definition</a:t>
            </a:r>
            <a:endParaRPr lang="zh-CN" altLang="en-US" sz="3000" b="1">
              <a:solidFill>
                <a:srgbClr val="142D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3473AB-A5BF-F381-444B-DE75045DEC95}"/>
              </a:ext>
            </a:extLst>
          </p:cNvPr>
          <p:cNvSpPr txBox="1"/>
          <p:nvPr/>
        </p:nvSpPr>
        <p:spPr>
          <a:xfrm>
            <a:off x="584200" y="965200"/>
            <a:ext cx="9906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300">
                <a:solidFill>
                  <a:srgbClr val="546070"/>
                </a:solidFill>
                <a:latin typeface="Aptos" panose="020B0004020202020204" pitchFamily="34" charset="0"/>
              </a:rPr>
              <a:t>Why this is more than finding the nearest charging station</a:t>
            </a:r>
            <a:endParaRPr lang="zh-CN" altLang="en-US" sz="13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F17B39-FBD3-D08F-74A4-63C32E2DA8E1}"/>
              </a:ext>
            </a:extLst>
          </p:cNvPr>
          <p:cNvSpPr txBox="1"/>
          <p:nvPr/>
        </p:nvSpPr>
        <p:spPr>
          <a:xfrm>
            <a:off x="558800" y="6413500"/>
            <a:ext cx="10414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altLang="zh-CN" sz="850">
                <a:solidFill>
                  <a:srgbClr val="546070"/>
                </a:solidFill>
                <a:latin typeface="Aptos" panose="020B0004020202020204" pitchFamily="34" charset="0"/>
              </a:rPr>
              <a:t>OccuEVRoute | DI22001 Algorithms and AI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E2EFB9-43AB-2D12-73E0-37D742E9332F}"/>
              </a:ext>
            </a:extLst>
          </p:cNvPr>
          <p:cNvSpPr txBox="1"/>
          <p:nvPr/>
        </p:nvSpPr>
        <p:spPr>
          <a:xfrm>
            <a:off x="11303000" y="6413500"/>
            <a:ext cx="50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850">
                <a:solidFill>
                  <a:srgbClr val="546070"/>
                </a:solidFill>
                <a:latin typeface="Aptos" panose="020B0004020202020204" pitchFamily="34" charset="0"/>
              </a:rPr>
              <a:t>2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8D649F1-22EF-62C9-FEEE-F6312A9E9C9E}"/>
              </a:ext>
            </a:extLst>
          </p:cNvPr>
          <p:cNvSpPr/>
          <p:nvPr/>
        </p:nvSpPr>
        <p:spPr>
          <a:xfrm>
            <a:off x="736600" y="1676400"/>
            <a:ext cx="3302000" cy="16510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5D1424-22B0-1917-68C3-2464EF0C12DA}"/>
              </a:ext>
            </a:extLst>
          </p:cNvPr>
          <p:cNvSpPr/>
          <p:nvPr/>
        </p:nvSpPr>
        <p:spPr>
          <a:xfrm>
            <a:off x="736600" y="1676400"/>
            <a:ext cx="76200" cy="1651000"/>
          </a:xfrm>
          <a:prstGeom prst="rect">
            <a:avLst/>
          </a:prstGeom>
          <a:solidFill>
            <a:srgbClr val="2A6F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B3772F-F9F2-2E71-2FC5-B11440D92238}"/>
              </a:ext>
            </a:extLst>
          </p:cNvPr>
          <p:cNvSpPr txBox="1"/>
          <p:nvPr/>
        </p:nvSpPr>
        <p:spPr>
          <a:xfrm>
            <a:off x="965200" y="1854200"/>
            <a:ext cx="2946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Travel cost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CBA6CF-6512-164A-A219-0C9796D39B9E}"/>
              </a:ext>
            </a:extLst>
          </p:cNvPr>
          <p:cNvSpPr txBox="1"/>
          <p:nvPr/>
        </p:nvSpPr>
        <p:spPr>
          <a:xfrm>
            <a:off x="965200" y="2235200"/>
            <a:ext cx="29464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Nearest or shortest-distance stations are not always optimal by road travel time.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5B13AF3-A31B-BDBA-B04F-749289E480B5}"/>
              </a:ext>
            </a:extLst>
          </p:cNvPr>
          <p:cNvSpPr/>
          <p:nvPr/>
        </p:nvSpPr>
        <p:spPr>
          <a:xfrm>
            <a:off x="4445000" y="1676400"/>
            <a:ext cx="3302000" cy="16510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076B7E-4091-1A66-3DCA-615C3DB5B868}"/>
              </a:ext>
            </a:extLst>
          </p:cNvPr>
          <p:cNvSpPr/>
          <p:nvPr/>
        </p:nvSpPr>
        <p:spPr>
          <a:xfrm>
            <a:off x="4445000" y="1676400"/>
            <a:ext cx="76200" cy="1651000"/>
          </a:xfrm>
          <a:prstGeom prst="rect">
            <a:avLst/>
          </a:prstGeom>
          <a:solidFill>
            <a:srgbClr val="4491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88A609-C209-9835-5609-0B517E5D8991}"/>
              </a:ext>
            </a:extLst>
          </p:cNvPr>
          <p:cNvSpPr txBox="1"/>
          <p:nvPr/>
        </p:nvSpPr>
        <p:spPr>
          <a:xfrm>
            <a:off x="4673600" y="1854200"/>
            <a:ext cx="2946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EV feasibility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180543-5788-10AA-1E17-A48836E768BB}"/>
              </a:ext>
            </a:extLst>
          </p:cNvPr>
          <p:cNvSpPr txBox="1"/>
          <p:nvPr/>
        </p:nvSpPr>
        <p:spPr>
          <a:xfrm>
            <a:off x="4673600" y="2235200"/>
            <a:ext cx="2946400" cy="57708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Recommendations must satisfy max drive time, energy consumption, minimum arrival SOC, and charger count.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FFC748D-F2BF-BAAC-B4FE-EA2D96FB396E}"/>
              </a:ext>
            </a:extLst>
          </p:cNvPr>
          <p:cNvSpPr/>
          <p:nvPr/>
        </p:nvSpPr>
        <p:spPr>
          <a:xfrm>
            <a:off x="8153400" y="1676400"/>
            <a:ext cx="3302000" cy="16510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B3F75F-99AE-7E01-33C6-05D19AF3498F}"/>
              </a:ext>
            </a:extLst>
          </p:cNvPr>
          <p:cNvSpPr/>
          <p:nvPr/>
        </p:nvSpPr>
        <p:spPr>
          <a:xfrm>
            <a:off x="8153400" y="1676400"/>
            <a:ext cx="76200" cy="1651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9F95702-B0D3-411D-E0A2-D5DEF6515D16}"/>
              </a:ext>
            </a:extLst>
          </p:cNvPr>
          <p:cNvSpPr txBox="1"/>
          <p:nvPr/>
        </p:nvSpPr>
        <p:spPr>
          <a:xfrm>
            <a:off x="8382000" y="1854200"/>
            <a:ext cx="2946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Congestion risk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08F8833-4814-7784-B713-FCCFB291AA50}"/>
              </a:ext>
            </a:extLst>
          </p:cNvPr>
          <p:cNvSpPr txBox="1"/>
          <p:nvPr/>
        </p:nvSpPr>
        <p:spPr>
          <a:xfrm>
            <a:off x="8382000" y="2235200"/>
            <a:ext cx="29464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Predicted occupancy is used as a station-crowding risk signal. It is not waiting time.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AC07D6-77C1-901F-0B2F-5FCDB1BAEBE4}"/>
              </a:ext>
            </a:extLst>
          </p:cNvPr>
          <p:cNvSpPr txBox="1"/>
          <p:nvPr/>
        </p:nvSpPr>
        <p:spPr>
          <a:xfrm>
            <a:off x="736600" y="4000500"/>
            <a:ext cx="3302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142D4E"/>
                </a:solidFill>
                <a:latin typeface="Aptos" panose="020B0004020202020204" pitchFamily="34" charset="0"/>
              </a:rPr>
              <a:t>Computable objective</a:t>
            </a:r>
            <a:endParaRPr lang="zh-CN" altLang="en-US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8DF39D-067B-6446-FBC9-8E447D1BFE7E}"/>
              </a:ext>
            </a:extLst>
          </p:cNvPr>
          <p:cNvSpPr txBox="1"/>
          <p:nvPr/>
        </p:nvSpPr>
        <p:spPr>
          <a:xfrm>
            <a:off x="736600" y="4470400"/>
            <a:ext cx="6604000" cy="8976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500">
                <a:solidFill>
                  <a:srgbClr val="121820"/>
                </a:solidFill>
                <a:latin typeface="Aptos" panose="020B0004020202020204" pitchFamily="34" charset="0"/>
              </a:rPr>
              <a:t>- Find feasible candidate stations</a:t>
            </a:r>
          </a:p>
          <a:p>
            <a:pPr>
              <a:spcAft>
                <a:spcPts val="800"/>
              </a:spcAft>
            </a:pPr>
            <a:r>
              <a:rPr lang="en-US" altLang="zh-CN" sz="1500">
                <a:solidFill>
                  <a:srgbClr val="121820"/>
                </a:solidFill>
                <a:latin typeface="Aptos" panose="020B0004020202020204" pitchFamily="34" charset="0"/>
              </a:rPr>
              <a:t>- Compute real road-network route metrics</a:t>
            </a:r>
          </a:p>
          <a:p>
            <a:pPr>
              <a:spcAft>
                <a:spcPts val="800"/>
              </a:spcAft>
            </a:pPr>
            <a:r>
              <a:rPr lang="en-US" altLang="zh-CN" sz="1500">
                <a:solidFill>
                  <a:srgbClr val="121820"/>
                </a:solidFill>
                <a:latin typeface="Aptos" panose="020B0004020202020204" pitchFamily="34" charset="0"/>
              </a:rPr>
              <a:t>- Rank feasible stations by user-selected metric</a:t>
            </a:r>
            <a:endParaRPr lang="zh-CN" altLang="en-US" sz="1500">
              <a:solidFill>
                <a:srgbClr val="121820"/>
              </a:solidFill>
              <a:latin typeface="Aptos" panose="020B00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4BCA53-48BF-09C3-B5B3-04E8CF330602}"/>
              </a:ext>
            </a:extLst>
          </p:cNvPr>
          <p:cNvSpPr txBox="1"/>
          <p:nvPr/>
        </p:nvSpPr>
        <p:spPr>
          <a:xfrm>
            <a:off x="6604000" y="4495800"/>
            <a:ext cx="4826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50" b="1">
                <a:solidFill>
                  <a:srgbClr val="142D4E"/>
                </a:solidFill>
                <a:latin typeface="Aptos" panose="020B0004020202020204" pitchFamily="34" charset="0"/>
              </a:rPr>
              <a:t>Default balanced ranking: drive_time_min / max_drive_time_min + predicted_occupancy_rate</a:t>
            </a:r>
            <a:endParaRPr lang="zh-CN" altLang="en-US" sz="145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59832D-C4B4-C12A-EECA-C3197E3247C4}"/>
              </a:ext>
            </a:extLst>
          </p:cNvPr>
          <p:cNvSpPr txBox="1"/>
          <p:nvPr/>
        </p:nvSpPr>
        <p:spPr>
          <a:xfrm>
            <a:off x="6604000" y="5334000"/>
            <a:ext cx="4572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Lower score is better. Travel time is normalized; occupancy remains a congestion-risk term.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902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C01F229-991F-1E39-037F-F1DDC56B0D99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A835C4-F5E5-4EC1-2983-E2829BD5725D}"/>
              </a:ext>
            </a:extLst>
          </p:cNvPr>
          <p:cNvSpPr txBox="1"/>
          <p:nvPr/>
        </p:nvSpPr>
        <p:spPr>
          <a:xfrm>
            <a:off x="558800" y="355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42D4E"/>
                </a:solidFill>
                <a:latin typeface="Aptos Display" panose="020B0004020202020204" pitchFamily="34" charset="0"/>
              </a:rPr>
              <a:t>Recommendation Workflow</a:t>
            </a:r>
            <a:endParaRPr lang="zh-CN" altLang="en-US" sz="3000" b="1">
              <a:solidFill>
                <a:srgbClr val="142D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B98ED7-EB6C-E2CD-A042-07BF3ABE3199}"/>
              </a:ext>
            </a:extLst>
          </p:cNvPr>
          <p:cNvSpPr txBox="1"/>
          <p:nvPr/>
        </p:nvSpPr>
        <p:spPr>
          <a:xfrm>
            <a:off x="584200" y="965200"/>
            <a:ext cx="9906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300">
                <a:solidFill>
                  <a:srgbClr val="546070"/>
                </a:solidFill>
                <a:latin typeface="Aptos" panose="020B0004020202020204" pitchFamily="34" charset="0"/>
              </a:rPr>
              <a:t>Pre-check narrows the search; post-check validates the actual route</a:t>
            </a:r>
            <a:endParaRPr lang="zh-CN" altLang="en-US" sz="13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A2457A-E629-55F5-C1E3-8EF4B0C1030C}"/>
              </a:ext>
            </a:extLst>
          </p:cNvPr>
          <p:cNvSpPr txBox="1"/>
          <p:nvPr/>
        </p:nvSpPr>
        <p:spPr>
          <a:xfrm>
            <a:off x="558800" y="6413500"/>
            <a:ext cx="10414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altLang="zh-CN" sz="850">
                <a:solidFill>
                  <a:srgbClr val="546070"/>
                </a:solidFill>
                <a:latin typeface="Aptos" panose="020B0004020202020204" pitchFamily="34" charset="0"/>
              </a:rPr>
              <a:t>OccuEVRoute | DI22001 Algorithms and AI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3C3CEF-8079-F64F-BAFB-1EC4CD60AF2D}"/>
              </a:ext>
            </a:extLst>
          </p:cNvPr>
          <p:cNvSpPr txBox="1"/>
          <p:nvPr/>
        </p:nvSpPr>
        <p:spPr>
          <a:xfrm>
            <a:off x="11303000" y="6413500"/>
            <a:ext cx="50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850">
                <a:solidFill>
                  <a:srgbClr val="546070"/>
                </a:solidFill>
                <a:latin typeface="Aptos" panose="020B0004020202020204" pitchFamily="34" charset="0"/>
              </a:rPr>
              <a:t>3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4108FD3-85D3-6B3C-F97C-3F953FFCE6E7}"/>
              </a:ext>
            </a:extLst>
          </p:cNvPr>
          <p:cNvSpPr/>
          <p:nvPr/>
        </p:nvSpPr>
        <p:spPr>
          <a:xfrm>
            <a:off x="558800" y="1651000"/>
            <a:ext cx="1422400" cy="1092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2D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969329-C700-5BFA-2DEC-D726CADB3C62}"/>
              </a:ext>
            </a:extLst>
          </p:cNvPr>
          <p:cNvSpPr txBox="1"/>
          <p:nvPr/>
        </p:nvSpPr>
        <p:spPr>
          <a:xfrm>
            <a:off x="711200" y="1778000"/>
            <a:ext cx="1117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142D4E"/>
                </a:solidFill>
                <a:latin typeface="Aptos" panose="020B0004020202020204" pitchFamily="34" charset="0"/>
              </a:rPr>
              <a:t>User input</a:t>
            </a:r>
            <a:endParaRPr lang="zh-CN" altLang="en-US" sz="13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8B87C2-535D-3EC5-8FA6-07B075F945B1}"/>
              </a:ext>
            </a:extLst>
          </p:cNvPr>
          <p:cNvSpPr txBox="1"/>
          <p:nvPr/>
        </p:nvSpPr>
        <p:spPr>
          <a:xfrm>
            <a:off x="711200" y="2108200"/>
            <a:ext cx="11176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46070"/>
                </a:solidFill>
                <a:latin typeface="Aptos" panose="020B0004020202020204" pitchFamily="34" charset="0"/>
              </a:rPr>
              <a:t>location, SOC, constraints</a:t>
            </a:r>
            <a:endParaRPr lang="zh-CN" altLang="en-US" sz="10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64F5020-4AB1-B611-4435-E9AB8478C4E4}"/>
              </a:ext>
            </a:extLst>
          </p:cNvPr>
          <p:cNvCxnSpPr/>
          <p:nvPr/>
        </p:nvCxnSpPr>
        <p:spPr>
          <a:xfrm>
            <a:off x="2032000" y="2247900"/>
            <a:ext cx="177800" cy="0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8AE2B06-E41C-33B2-B769-A3FC24DA7BDB}"/>
              </a:ext>
            </a:extLst>
          </p:cNvPr>
          <p:cNvSpPr/>
          <p:nvPr/>
        </p:nvSpPr>
        <p:spPr>
          <a:xfrm>
            <a:off x="2260600" y="1651000"/>
            <a:ext cx="1422400" cy="1092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A6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7416C4A-F18B-07CD-F699-B5C90B7A5969}"/>
              </a:ext>
            </a:extLst>
          </p:cNvPr>
          <p:cNvSpPr txBox="1"/>
          <p:nvPr/>
        </p:nvSpPr>
        <p:spPr>
          <a:xfrm>
            <a:off x="2413000" y="1778000"/>
            <a:ext cx="1117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A6F97"/>
                </a:solidFill>
                <a:latin typeface="Aptos" panose="020B0004020202020204" pitchFamily="34" charset="0"/>
              </a:rPr>
              <a:t>Candidates</a:t>
            </a:r>
            <a:endParaRPr lang="zh-CN" altLang="en-US" sz="1300" b="1">
              <a:solidFill>
                <a:srgbClr val="2A6F97"/>
              </a:solidFill>
              <a:latin typeface="Aptos" panose="020B00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63B033-3A20-B7C2-BDA0-1F49EBF3DF46}"/>
              </a:ext>
            </a:extLst>
          </p:cNvPr>
          <p:cNvSpPr txBox="1"/>
          <p:nvPr/>
        </p:nvSpPr>
        <p:spPr>
          <a:xfrm>
            <a:off x="2413000" y="2108200"/>
            <a:ext cx="11176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46070"/>
                </a:solidFill>
                <a:latin typeface="Aptos" panose="020B0004020202020204" pitchFamily="34" charset="0"/>
              </a:rPr>
              <a:t>nearby charging stations</a:t>
            </a:r>
            <a:endParaRPr lang="zh-CN" altLang="en-US" sz="10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7CBC21F-814C-BCAB-7E82-CB4099E28B21}"/>
              </a:ext>
            </a:extLst>
          </p:cNvPr>
          <p:cNvCxnSpPr/>
          <p:nvPr/>
        </p:nvCxnSpPr>
        <p:spPr>
          <a:xfrm>
            <a:off x="3733800" y="2247900"/>
            <a:ext cx="177800" cy="0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41DC1A4-5DB2-EEDD-69F7-A166C4755A2C}"/>
              </a:ext>
            </a:extLst>
          </p:cNvPr>
          <p:cNvSpPr/>
          <p:nvPr/>
        </p:nvSpPr>
        <p:spPr>
          <a:xfrm>
            <a:off x="3962400" y="1651000"/>
            <a:ext cx="1422400" cy="1092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491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C98D5D-5667-3F95-04D3-A3E86DE3DBA5}"/>
              </a:ext>
            </a:extLst>
          </p:cNvPr>
          <p:cNvSpPr txBox="1"/>
          <p:nvPr/>
        </p:nvSpPr>
        <p:spPr>
          <a:xfrm>
            <a:off x="4114800" y="1778000"/>
            <a:ext cx="1117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44916A"/>
                </a:solidFill>
                <a:latin typeface="Aptos" panose="020B0004020202020204" pitchFamily="34" charset="0"/>
              </a:rPr>
              <a:t>Pre-check</a:t>
            </a:r>
            <a:endParaRPr lang="zh-CN" altLang="en-US" sz="1300" b="1">
              <a:solidFill>
                <a:srgbClr val="44916A"/>
              </a:solidFill>
              <a:latin typeface="Aptos" panose="020B00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5C73C5-82FF-1A61-6B0B-0E152C8FE012}"/>
              </a:ext>
            </a:extLst>
          </p:cNvPr>
          <p:cNvSpPr txBox="1"/>
          <p:nvPr/>
        </p:nvSpPr>
        <p:spPr>
          <a:xfrm>
            <a:off x="4114800" y="2108200"/>
            <a:ext cx="11176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46070"/>
                </a:solidFill>
                <a:latin typeface="Aptos" panose="020B0004020202020204" pitchFamily="34" charset="0"/>
              </a:rPr>
              <a:t>static feasibility filters</a:t>
            </a:r>
            <a:endParaRPr lang="zh-CN" altLang="en-US" sz="10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6C921D8-2EA8-0C5F-C3E1-64205BB25514}"/>
              </a:ext>
            </a:extLst>
          </p:cNvPr>
          <p:cNvCxnSpPr/>
          <p:nvPr/>
        </p:nvCxnSpPr>
        <p:spPr>
          <a:xfrm>
            <a:off x="5435600" y="2247900"/>
            <a:ext cx="177800" cy="0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8BE0E1B-B39C-4EBE-C144-8C01C2514A95}"/>
              </a:ext>
            </a:extLst>
          </p:cNvPr>
          <p:cNvSpPr/>
          <p:nvPr/>
        </p:nvSpPr>
        <p:spPr>
          <a:xfrm>
            <a:off x="5664200" y="1651000"/>
            <a:ext cx="1422400" cy="1092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8B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2BF1F3-AA01-16AB-6CEA-B41BFE9841CE}"/>
              </a:ext>
            </a:extLst>
          </p:cNvPr>
          <p:cNvSpPr txBox="1"/>
          <p:nvPr/>
        </p:nvSpPr>
        <p:spPr>
          <a:xfrm>
            <a:off x="5816600" y="1778000"/>
            <a:ext cx="1117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E8B89"/>
                </a:solidFill>
                <a:latin typeface="Aptos" panose="020B0004020202020204" pitchFamily="34" charset="0"/>
              </a:rPr>
              <a:t>Route search</a:t>
            </a:r>
            <a:endParaRPr lang="zh-CN" altLang="en-US" sz="1300" b="1">
              <a:solidFill>
                <a:srgbClr val="2E8B89"/>
              </a:solidFill>
              <a:latin typeface="Aptos" panose="020B00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9CEDA7-BDCF-5876-B0AC-5204F1A4D334}"/>
              </a:ext>
            </a:extLst>
          </p:cNvPr>
          <p:cNvSpPr txBox="1"/>
          <p:nvPr/>
        </p:nvSpPr>
        <p:spPr>
          <a:xfrm>
            <a:off x="5816600" y="2108200"/>
            <a:ext cx="11176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46070"/>
                </a:solidFill>
                <a:latin typeface="Aptos" panose="020B0004020202020204" pitchFamily="34" charset="0"/>
              </a:rPr>
              <a:t>road-network algorithms</a:t>
            </a:r>
            <a:endParaRPr lang="zh-CN" altLang="en-US" sz="10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131807F-901E-2ABF-598C-AFA559132696}"/>
              </a:ext>
            </a:extLst>
          </p:cNvPr>
          <p:cNvCxnSpPr/>
          <p:nvPr/>
        </p:nvCxnSpPr>
        <p:spPr>
          <a:xfrm>
            <a:off x="7137400" y="2247900"/>
            <a:ext cx="177800" cy="0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E15B49F-184B-D322-C7E3-41072A2F42C6}"/>
              </a:ext>
            </a:extLst>
          </p:cNvPr>
          <p:cNvSpPr/>
          <p:nvPr/>
        </p:nvSpPr>
        <p:spPr>
          <a:xfrm>
            <a:off x="7366000" y="1651000"/>
            <a:ext cx="1422400" cy="1092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491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A66433-F162-1EBB-BA9A-C56F0A4A63F0}"/>
              </a:ext>
            </a:extLst>
          </p:cNvPr>
          <p:cNvSpPr txBox="1"/>
          <p:nvPr/>
        </p:nvSpPr>
        <p:spPr>
          <a:xfrm>
            <a:off x="7518400" y="1778000"/>
            <a:ext cx="1117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44916A"/>
                </a:solidFill>
                <a:latin typeface="Aptos" panose="020B0004020202020204" pitchFamily="34" charset="0"/>
              </a:rPr>
              <a:t>Post-check</a:t>
            </a:r>
            <a:endParaRPr lang="zh-CN" altLang="en-US" sz="1300" b="1">
              <a:solidFill>
                <a:srgbClr val="44916A"/>
              </a:solidFill>
              <a:latin typeface="Aptos" panose="020B00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A118958-F7F0-06C9-4757-9B838940F588}"/>
              </a:ext>
            </a:extLst>
          </p:cNvPr>
          <p:cNvSpPr txBox="1"/>
          <p:nvPr/>
        </p:nvSpPr>
        <p:spPr>
          <a:xfrm>
            <a:off x="7518400" y="2108200"/>
            <a:ext cx="11176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46070"/>
                </a:solidFill>
                <a:latin typeface="Aptos" panose="020B0004020202020204" pitchFamily="34" charset="0"/>
              </a:rPr>
              <a:t>time, energy, SOC</a:t>
            </a:r>
            <a:endParaRPr lang="zh-CN" altLang="en-US" sz="10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F047180-FD6D-042C-12C3-D4FD14622765}"/>
              </a:ext>
            </a:extLst>
          </p:cNvPr>
          <p:cNvCxnSpPr/>
          <p:nvPr/>
        </p:nvCxnSpPr>
        <p:spPr>
          <a:xfrm>
            <a:off x="8839200" y="2247900"/>
            <a:ext cx="177800" cy="0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86268D8-E4AD-2DEB-7809-85C29A01C9E2}"/>
              </a:ext>
            </a:extLst>
          </p:cNvPr>
          <p:cNvSpPr/>
          <p:nvPr/>
        </p:nvSpPr>
        <p:spPr>
          <a:xfrm>
            <a:off x="9067800" y="1651000"/>
            <a:ext cx="1422400" cy="10922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C53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FE10CF5-A397-6362-4953-927957406632}"/>
              </a:ext>
            </a:extLst>
          </p:cNvPr>
          <p:cNvSpPr txBox="1"/>
          <p:nvPr/>
        </p:nvSpPr>
        <p:spPr>
          <a:xfrm>
            <a:off x="9220200" y="1778000"/>
            <a:ext cx="1117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BC5349"/>
                </a:solidFill>
                <a:latin typeface="Aptos" panose="020B0004020202020204" pitchFamily="34" charset="0"/>
              </a:rPr>
              <a:t>ML + rank</a:t>
            </a:r>
            <a:endParaRPr lang="zh-CN" altLang="en-US" sz="1300" b="1">
              <a:solidFill>
                <a:srgbClr val="BC5349"/>
              </a:solidFill>
              <a:latin typeface="Aptos" panose="020B00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7AC24B7-6170-63DC-C6B4-E234ADAE66A7}"/>
              </a:ext>
            </a:extLst>
          </p:cNvPr>
          <p:cNvSpPr txBox="1"/>
          <p:nvPr/>
        </p:nvSpPr>
        <p:spPr>
          <a:xfrm>
            <a:off x="9220200" y="2108200"/>
            <a:ext cx="11176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46070"/>
                </a:solidFill>
                <a:latin typeface="Aptos" panose="020B0004020202020204" pitchFamily="34" charset="0"/>
              </a:rPr>
              <a:t>occupancy risk sorting</a:t>
            </a:r>
            <a:endParaRPr lang="zh-CN" altLang="en-US" sz="10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11606B8-78C4-3331-26F8-806FED6E3A4D}"/>
              </a:ext>
            </a:extLst>
          </p:cNvPr>
          <p:cNvSpPr/>
          <p:nvPr/>
        </p:nvSpPr>
        <p:spPr>
          <a:xfrm>
            <a:off x="990600" y="3632200"/>
            <a:ext cx="1397000" cy="1422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8B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B2397A9-BFC0-4FE2-F308-8C3B67DC8625}"/>
              </a:ext>
            </a:extLst>
          </p:cNvPr>
          <p:cNvSpPr txBox="1"/>
          <p:nvPr/>
        </p:nvSpPr>
        <p:spPr>
          <a:xfrm>
            <a:off x="1143000" y="3759200"/>
            <a:ext cx="10922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E8B89"/>
                </a:solidFill>
                <a:latin typeface="Aptos" panose="020B0004020202020204" pitchFamily="34" charset="0"/>
              </a:rPr>
              <a:t>Frontend</a:t>
            </a:r>
            <a:endParaRPr lang="zh-CN" altLang="en-US" sz="1300" b="1">
              <a:solidFill>
                <a:srgbClr val="2E8B89"/>
              </a:solidFill>
              <a:latin typeface="Aptos" panose="020B00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63F909E-8F93-6F05-89DD-C1A04494027E}"/>
              </a:ext>
            </a:extLst>
          </p:cNvPr>
          <p:cNvSpPr txBox="1"/>
          <p:nvPr/>
        </p:nvSpPr>
        <p:spPr>
          <a:xfrm>
            <a:off x="1143000" y="4089400"/>
            <a:ext cx="10922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46070"/>
                </a:solidFill>
                <a:latin typeface="Aptos" panose="020B0004020202020204" pitchFamily="34" charset="0"/>
              </a:rPr>
              <a:t>Map click, vehicle inputs, ranking metric, result panels</a:t>
            </a:r>
            <a:endParaRPr lang="zh-CN" altLang="en-US" sz="10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30678DE-B1CE-DE84-E1A1-BD9079A41124}"/>
              </a:ext>
            </a:extLst>
          </p:cNvPr>
          <p:cNvSpPr/>
          <p:nvPr/>
        </p:nvSpPr>
        <p:spPr>
          <a:xfrm>
            <a:off x="2722880" y="3632200"/>
            <a:ext cx="1676400" cy="1422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A6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1BB3A29-0734-9A46-B760-DEB2D2DE2D09}"/>
              </a:ext>
            </a:extLst>
          </p:cNvPr>
          <p:cNvSpPr txBox="1"/>
          <p:nvPr/>
        </p:nvSpPr>
        <p:spPr>
          <a:xfrm>
            <a:off x="2875280" y="3759200"/>
            <a:ext cx="1371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2A6F97"/>
                </a:solidFill>
                <a:latin typeface="Aptos" panose="020B0004020202020204" pitchFamily="34" charset="0"/>
              </a:rPr>
              <a:t>Backend API</a:t>
            </a:r>
            <a:endParaRPr lang="zh-CN" altLang="en-US" sz="1300" b="1">
              <a:solidFill>
                <a:srgbClr val="2A6F97"/>
              </a:solidFill>
              <a:latin typeface="Aptos" panose="020B00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62BAA15-EB7D-77C5-0723-99EA5AC4ED60}"/>
              </a:ext>
            </a:extLst>
          </p:cNvPr>
          <p:cNvSpPr txBox="1"/>
          <p:nvPr/>
        </p:nvSpPr>
        <p:spPr>
          <a:xfrm>
            <a:off x="2875280" y="4089400"/>
            <a:ext cx="1371600" cy="48474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46070"/>
                </a:solidFill>
                <a:latin typeface="Aptos" panose="020B0004020202020204" pitchFamily="34" charset="0"/>
              </a:rPr>
              <a:t>Request validation, response shaping, diagnostics</a:t>
            </a:r>
            <a:endParaRPr lang="zh-CN" altLang="en-US" sz="10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BC9AB21-79C1-013D-089A-16129A8B5BBC}"/>
              </a:ext>
            </a:extLst>
          </p:cNvPr>
          <p:cNvSpPr/>
          <p:nvPr/>
        </p:nvSpPr>
        <p:spPr>
          <a:xfrm>
            <a:off x="4734560" y="3632200"/>
            <a:ext cx="1508760" cy="1422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491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5E6D5D5-9D3E-DC97-B82D-034A9BD6B81C}"/>
              </a:ext>
            </a:extLst>
          </p:cNvPr>
          <p:cNvSpPr txBox="1"/>
          <p:nvPr/>
        </p:nvSpPr>
        <p:spPr>
          <a:xfrm>
            <a:off x="4886960" y="3759200"/>
            <a:ext cx="120396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44916A"/>
                </a:solidFill>
                <a:latin typeface="Aptos" panose="020B0004020202020204" pitchFamily="34" charset="0"/>
              </a:rPr>
              <a:t>Domain modules</a:t>
            </a:r>
            <a:endParaRPr lang="zh-CN" altLang="en-US" sz="1300" b="1">
              <a:solidFill>
                <a:srgbClr val="44916A"/>
              </a:solidFill>
              <a:latin typeface="Aptos" panose="020B00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7951C4F-90D1-B2CC-95CA-04E05E8E04A3}"/>
              </a:ext>
            </a:extLst>
          </p:cNvPr>
          <p:cNvSpPr txBox="1"/>
          <p:nvPr/>
        </p:nvSpPr>
        <p:spPr>
          <a:xfrm>
            <a:off x="4886960" y="4089400"/>
            <a:ext cx="1203960" cy="48474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546070"/>
                </a:solidFill>
                <a:latin typeface="Aptos" panose="020B0004020202020204" pitchFamily="34" charset="0"/>
              </a:rPr>
              <a:t>Route search, CSP checks, occupancy prediction, sorting</a:t>
            </a:r>
            <a:endParaRPr lang="zh-CN" altLang="en-US" sz="10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606FAC0-1692-5F1D-5D6F-1E1ED6EE6ECB}"/>
              </a:ext>
            </a:extLst>
          </p:cNvPr>
          <p:cNvCxnSpPr/>
          <p:nvPr/>
        </p:nvCxnSpPr>
        <p:spPr>
          <a:xfrm>
            <a:off x="2463800" y="4343400"/>
            <a:ext cx="157480" cy="0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5072E21-C56E-19D3-4C90-B13B52E6465B}"/>
              </a:ext>
            </a:extLst>
          </p:cNvPr>
          <p:cNvCxnSpPr/>
          <p:nvPr/>
        </p:nvCxnSpPr>
        <p:spPr>
          <a:xfrm>
            <a:off x="4475480" y="4343400"/>
            <a:ext cx="157480" cy="0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图片 41">
            <a:extLst>
              <a:ext uri="{FF2B5EF4-FFF2-40B4-BE49-F238E27FC236}">
                <a16:creationId xmlns:a16="http://schemas.microsoft.com/office/drawing/2014/main" id="{1F6288C2-5538-A288-00BF-E5AC974BE8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3632200"/>
            <a:ext cx="4191000" cy="25146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7676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CEFD0CA-3334-D942-70D5-F7167B5EAE88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8DF536-D6B6-E917-0B3C-25AF4949EDED}"/>
              </a:ext>
            </a:extLst>
          </p:cNvPr>
          <p:cNvSpPr txBox="1"/>
          <p:nvPr/>
        </p:nvSpPr>
        <p:spPr>
          <a:xfrm>
            <a:off x="558800" y="355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42D4E"/>
                </a:solidFill>
                <a:latin typeface="Aptos Display" panose="020B0004020202020204" pitchFamily="34" charset="0"/>
              </a:rPr>
              <a:t>Dataset</a:t>
            </a:r>
            <a:endParaRPr lang="zh-CN" altLang="en-US" sz="3000" b="1">
              <a:solidFill>
                <a:srgbClr val="142D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1E4F85-3498-240D-8FA3-6647F5AED90C}"/>
              </a:ext>
            </a:extLst>
          </p:cNvPr>
          <p:cNvSpPr txBox="1"/>
          <p:nvPr/>
        </p:nvSpPr>
        <p:spPr>
          <a:xfrm>
            <a:off x="584200" y="965200"/>
            <a:ext cx="9906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300">
                <a:solidFill>
                  <a:srgbClr val="546070"/>
                </a:solidFill>
                <a:latin typeface="Aptos" panose="020B0004020202020204" pitchFamily="34" charset="0"/>
              </a:rPr>
              <a:t>Data is split into routing data and occupancy-prediction data</a:t>
            </a:r>
            <a:endParaRPr lang="zh-CN" altLang="en-US" sz="13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5E02BA-F3DD-9217-4203-0DAB28EDF3E1}"/>
              </a:ext>
            </a:extLst>
          </p:cNvPr>
          <p:cNvSpPr txBox="1"/>
          <p:nvPr/>
        </p:nvSpPr>
        <p:spPr>
          <a:xfrm>
            <a:off x="558800" y="6413500"/>
            <a:ext cx="10414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altLang="zh-CN" sz="850">
                <a:solidFill>
                  <a:srgbClr val="546070"/>
                </a:solidFill>
                <a:latin typeface="Aptos" panose="020B0004020202020204" pitchFamily="34" charset="0"/>
              </a:rPr>
              <a:t>OccuEVRoute | DI22001 Algorithms and AI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01FBBC-B47A-DCF8-12F7-FD0031F00FFF}"/>
              </a:ext>
            </a:extLst>
          </p:cNvPr>
          <p:cNvSpPr txBox="1"/>
          <p:nvPr/>
        </p:nvSpPr>
        <p:spPr>
          <a:xfrm>
            <a:off x="11303000" y="6413500"/>
            <a:ext cx="50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850">
                <a:solidFill>
                  <a:srgbClr val="546070"/>
                </a:solidFill>
                <a:latin typeface="Aptos" panose="020B0004020202020204" pitchFamily="34" charset="0"/>
              </a:rPr>
              <a:t>4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802C1E-BC61-25DA-E7DB-4576A0729A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422400"/>
            <a:ext cx="10871200" cy="50038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08911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39897D4-9583-3E11-B7A7-DD7A7A9A1BD9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A07C24-1EF2-DE87-F4EB-1415D4C914AA}"/>
              </a:ext>
            </a:extLst>
          </p:cNvPr>
          <p:cNvSpPr txBox="1"/>
          <p:nvPr/>
        </p:nvSpPr>
        <p:spPr>
          <a:xfrm>
            <a:off x="558800" y="355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42D4E"/>
                </a:solidFill>
                <a:latin typeface="Aptos Display" panose="020B0004020202020204" pitchFamily="34" charset="0"/>
              </a:rPr>
              <a:t>Search Strategy</a:t>
            </a:r>
            <a:endParaRPr lang="zh-CN" altLang="en-US" sz="3000" b="1">
              <a:solidFill>
                <a:srgbClr val="142D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FD37CA-6F57-1B0E-9E50-7CA9741FFA8B}"/>
              </a:ext>
            </a:extLst>
          </p:cNvPr>
          <p:cNvSpPr txBox="1"/>
          <p:nvPr/>
        </p:nvSpPr>
        <p:spPr>
          <a:xfrm>
            <a:off x="584200" y="965200"/>
            <a:ext cx="9906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300">
                <a:solidFill>
                  <a:srgbClr val="546070"/>
                </a:solidFill>
                <a:latin typeface="Aptos" panose="020B0004020202020204" pitchFamily="34" charset="0"/>
              </a:rPr>
              <a:t>Six algorithms, two comparison axes</a:t>
            </a:r>
            <a:endParaRPr lang="zh-CN" altLang="en-US" sz="13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438D09-7B96-D4A7-E76B-5D826319695D}"/>
              </a:ext>
            </a:extLst>
          </p:cNvPr>
          <p:cNvSpPr txBox="1"/>
          <p:nvPr/>
        </p:nvSpPr>
        <p:spPr>
          <a:xfrm>
            <a:off x="558800" y="6413500"/>
            <a:ext cx="10414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altLang="zh-CN" sz="850">
                <a:solidFill>
                  <a:srgbClr val="546070"/>
                </a:solidFill>
                <a:latin typeface="Aptos" panose="020B0004020202020204" pitchFamily="34" charset="0"/>
              </a:rPr>
              <a:t>OccuEVRoute | DI22001 Algorithms and AI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3BF574-057E-5F79-92DE-12BB35E8021A}"/>
              </a:ext>
            </a:extLst>
          </p:cNvPr>
          <p:cNvSpPr txBox="1"/>
          <p:nvPr/>
        </p:nvSpPr>
        <p:spPr>
          <a:xfrm>
            <a:off x="11303000" y="6413500"/>
            <a:ext cx="50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850">
                <a:solidFill>
                  <a:srgbClr val="546070"/>
                </a:solidFill>
                <a:latin typeface="Aptos" panose="020B0004020202020204" pitchFamily="34" charset="0"/>
              </a:rPr>
              <a:t>5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CB93DB-9183-02D9-98B6-E105F79D65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320800"/>
            <a:ext cx="11074400" cy="53848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246367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215B028-1010-28B5-249B-CD1258DE7C9B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1F24C7F-D01D-E308-DA8E-A0804D3BACBA}"/>
              </a:ext>
            </a:extLst>
          </p:cNvPr>
          <p:cNvSpPr txBox="1"/>
          <p:nvPr/>
        </p:nvSpPr>
        <p:spPr>
          <a:xfrm>
            <a:off x="558800" y="355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42D4E"/>
                </a:solidFill>
                <a:latin typeface="Aptos Display" panose="020B0004020202020204" pitchFamily="34" charset="0"/>
              </a:rPr>
              <a:t>Constraints and Ranking</a:t>
            </a:r>
            <a:endParaRPr lang="zh-CN" altLang="en-US" sz="3000" b="1">
              <a:solidFill>
                <a:srgbClr val="142D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688546-2EB1-2093-735A-9433D9A42F8D}"/>
              </a:ext>
            </a:extLst>
          </p:cNvPr>
          <p:cNvSpPr txBox="1"/>
          <p:nvPr/>
        </p:nvSpPr>
        <p:spPr>
          <a:xfrm>
            <a:off x="584200" y="965200"/>
            <a:ext cx="9906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300">
                <a:solidFill>
                  <a:srgbClr val="546070"/>
                </a:solidFill>
                <a:latin typeface="Aptos" panose="020B0004020202020204" pitchFamily="34" charset="0"/>
              </a:rPr>
              <a:t>Feasibility is checked before ranking; occupancy is only a risk signal</a:t>
            </a:r>
            <a:endParaRPr lang="zh-CN" altLang="en-US" sz="13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7AE6B7-D4A5-FA83-9220-D6142EC6B5A8}"/>
              </a:ext>
            </a:extLst>
          </p:cNvPr>
          <p:cNvSpPr txBox="1"/>
          <p:nvPr/>
        </p:nvSpPr>
        <p:spPr>
          <a:xfrm>
            <a:off x="558800" y="6413500"/>
            <a:ext cx="10414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altLang="zh-CN" sz="850">
                <a:solidFill>
                  <a:srgbClr val="546070"/>
                </a:solidFill>
                <a:latin typeface="Aptos" panose="020B0004020202020204" pitchFamily="34" charset="0"/>
              </a:rPr>
              <a:t>OccuEVRoute | DI22001 Algorithms and AI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FD8137-0EB9-605C-6FD4-0FF562E33C95}"/>
              </a:ext>
            </a:extLst>
          </p:cNvPr>
          <p:cNvSpPr txBox="1"/>
          <p:nvPr/>
        </p:nvSpPr>
        <p:spPr>
          <a:xfrm>
            <a:off x="11303000" y="6413500"/>
            <a:ext cx="50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850">
                <a:solidFill>
                  <a:srgbClr val="546070"/>
                </a:solidFill>
                <a:latin typeface="Aptos" panose="020B0004020202020204" pitchFamily="34" charset="0"/>
              </a:rPr>
              <a:t>6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288326C-916C-B059-D65B-1378E8437DD9}"/>
              </a:ext>
            </a:extLst>
          </p:cNvPr>
          <p:cNvSpPr/>
          <p:nvPr/>
        </p:nvSpPr>
        <p:spPr>
          <a:xfrm>
            <a:off x="736600" y="1498600"/>
            <a:ext cx="3175000" cy="11430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440B38-946B-C7FE-7C30-FD58F705C98D}"/>
              </a:ext>
            </a:extLst>
          </p:cNvPr>
          <p:cNvSpPr/>
          <p:nvPr/>
        </p:nvSpPr>
        <p:spPr>
          <a:xfrm>
            <a:off x="736600" y="1498600"/>
            <a:ext cx="76200" cy="1143000"/>
          </a:xfrm>
          <a:prstGeom prst="rect">
            <a:avLst/>
          </a:prstGeom>
          <a:solidFill>
            <a:srgbClr val="4491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0736A9-ABF6-6B17-08A7-79332F77CF88}"/>
              </a:ext>
            </a:extLst>
          </p:cNvPr>
          <p:cNvSpPr txBox="1"/>
          <p:nvPr/>
        </p:nvSpPr>
        <p:spPr>
          <a:xfrm>
            <a:off x="965200" y="1676400"/>
            <a:ext cx="2819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Pre-check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4EB310-2B80-99FE-9DF2-48D8132E6116}"/>
              </a:ext>
            </a:extLst>
          </p:cNvPr>
          <p:cNvSpPr txBox="1"/>
          <p:nvPr/>
        </p:nvSpPr>
        <p:spPr>
          <a:xfrm>
            <a:off x="965200" y="2057400"/>
            <a:ext cx="28194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Before graph search: search radius, charger count, road access distance.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342B458-27AC-2623-3C6A-BEA6532398BF}"/>
              </a:ext>
            </a:extLst>
          </p:cNvPr>
          <p:cNvSpPr/>
          <p:nvPr/>
        </p:nvSpPr>
        <p:spPr>
          <a:xfrm>
            <a:off x="4521200" y="1498600"/>
            <a:ext cx="3175000" cy="11430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8CA182-4E35-3427-A57D-C97387DF1E8B}"/>
              </a:ext>
            </a:extLst>
          </p:cNvPr>
          <p:cNvSpPr/>
          <p:nvPr/>
        </p:nvSpPr>
        <p:spPr>
          <a:xfrm>
            <a:off x="4521200" y="1498600"/>
            <a:ext cx="76200" cy="1143000"/>
          </a:xfrm>
          <a:prstGeom prst="rect">
            <a:avLst/>
          </a:prstGeom>
          <a:solidFill>
            <a:srgbClr val="2A6F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E2716C-2724-BD4F-78E7-1B13A41629E7}"/>
              </a:ext>
            </a:extLst>
          </p:cNvPr>
          <p:cNvSpPr txBox="1"/>
          <p:nvPr/>
        </p:nvSpPr>
        <p:spPr>
          <a:xfrm>
            <a:off x="4749800" y="1676400"/>
            <a:ext cx="2819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Post-check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7F8441-85CB-C851-147F-3975C60C9754}"/>
              </a:ext>
            </a:extLst>
          </p:cNvPr>
          <p:cNvSpPr txBox="1"/>
          <p:nvPr/>
        </p:nvSpPr>
        <p:spPr>
          <a:xfrm>
            <a:off x="4749800" y="2057400"/>
            <a:ext cx="28194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After graph search: path found, drive time, energy use, arrival SOC.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3155FCD-54B3-D87D-84CF-3B76DDAF00CE}"/>
              </a:ext>
            </a:extLst>
          </p:cNvPr>
          <p:cNvSpPr/>
          <p:nvPr/>
        </p:nvSpPr>
        <p:spPr>
          <a:xfrm>
            <a:off x="8305800" y="1498600"/>
            <a:ext cx="3175000" cy="11430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A3B497-CA98-A125-3580-01CD10DF1E00}"/>
              </a:ext>
            </a:extLst>
          </p:cNvPr>
          <p:cNvSpPr/>
          <p:nvPr/>
        </p:nvSpPr>
        <p:spPr>
          <a:xfrm>
            <a:off x="8305800" y="1498600"/>
            <a:ext cx="76200" cy="1143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D76711-93B1-A3F4-D926-66871D794032}"/>
              </a:ext>
            </a:extLst>
          </p:cNvPr>
          <p:cNvSpPr txBox="1"/>
          <p:nvPr/>
        </p:nvSpPr>
        <p:spPr>
          <a:xfrm>
            <a:off x="8534400" y="1676400"/>
            <a:ext cx="2819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Ranking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564EA96-8706-80FE-108E-EBF40D9481E9}"/>
              </a:ext>
            </a:extLst>
          </p:cNvPr>
          <p:cNvSpPr txBox="1"/>
          <p:nvPr/>
        </p:nvSpPr>
        <p:spPr>
          <a:xfrm>
            <a:off x="8534400" y="2057400"/>
            <a:ext cx="28194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Feasible stations are sorted by selected metric; balanced uses occupancy as risk.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91C2EEAF-789B-91D5-CF4D-E217EF2362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3022600"/>
            <a:ext cx="10160000" cy="31750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835129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DD5CDA-BD0C-2C23-A373-2AB0F0123B89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31C691-9385-10E4-1F71-97078B18C5D7}"/>
              </a:ext>
            </a:extLst>
          </p:cNvPr>
          <p:cNvSpPr txBox="1"/>
          <p:nvPr/>
        </p:nvSpPr>
        <p:spPr>
          <a:xfrm>
            <a:off x="558800" y="355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42D4E"/>
                </a:solidFill>
                <a:latin typeface="Aptos Display" panose="020B0004020202020204" pitchFamily="34" charset="0"/>
              </a:rPr>
              <a:t>Machine Learning Model</a:t>
            </a:r>
            <a:endParaRPr lang="zh-CN" altLang="en-US" sz="3000" b="1">
              <a:solidFill>
                <a:srgbClr val="142D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E6B28B2-EFA2-7C80-6646-3B3B6EDA6A67}"/>
              </a:ext>
            </a:extLst>
          </p:cNvPr>
          <p:cNvSpPr txBox="1"/>
          <p:nvPr/>
        </p:nvSpPr>
        <p:spPr>
          <a:xfrm>
            <a:off x="584200" y="965200"/>
            <a:ext cx="9906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300">
                <a:solidFill>
                  <a:srgbClr val="546070"/>
                </a:solidFill>
                <a:latin typeface="Aptos" panose="020B0004020202020204" pitchFamily="34" charset="0"/>
              </a:rPr>
              <a:t>XGBoost predicts future occupancy rate for the station arrival horizon</a:t>
            </a:r>
            <a:endParaRPr lang="zh-CN" altLang="en-US" sz="13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061934-A131-3E31-820A-4AAB3B703DD2}"/>
              </a:ext>
            </a:extLst>
          </p:cNvPr>
          <p:cNvSpPr txBox="1"/>
          <p:nvPr/>
        </p:nvSpPr>
        <p:spPr>
          <a:xfrm>
            <a:off x="558800" y="6413500"/>
            <a:ext cx="10414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altLang="zh-CN" sz="850">
                <a:solidFill>
                  <a:srgbClr val="546070"/>
                </a:solidFill>
                <a:latin typeface="Aptos" panose="020B0004020202020204" pitchFamily="34" charset="0"/>
              </a:rPr>
              <a:t>OccuEVRoute | DI22001 Algorithms and AI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1E18F0-D86A-2E0D-463B-4F0DA3F92E92}"/>
              </a:ext>
            </a:extLst>
          </p:cNvPr>
          <p:cNvSpPr txBox="1"/>
          <p:nvPr/>
        </p:nvSpPr>
        <p:spPr>
          <a:xfrm>
            <a:off x="11303000" y="6413500"/>
            <a:ext cx="50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850">
                <a:solidFill>
                  <a:srgbClr val="546070"/>
                </a:solidFill>
                <a:latin typeface="Aptos" panose="020B0004020202020204" pitchFamily="34" charset="0"/>
              </a:rPr>
              <a:t>7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4BEC47-35DE-DBAA-BEFC-C73A7A43025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422400"/>
            <a:ext cx="10871200" cy="50038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150807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AE42447-7A48-8D68-D6DE-1FEA3DAFF4D2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C0E40C-0DE6-C44C-D864-D3780821B8CF}"/>
              </a:ext>
            </a:extLst>
          </p:cNvPr>
          <p:cNvSpPr txBox="1"/>
          <p:nvPr/>
        </p:nvSpPr>
        <p:spPr>
          <a:xfrm>
            <a:off x="558800" y="355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42D4E"/>
                </a:solidFill>
                <a:latin typeface="Aptos Display" panose="020B0004020202020204" pitchFamily="34" charset="0"/>
              </a:rPr>
              <a:t>ML Results</a:t>
            </a:r>
            <a:endParaRPr lang="zh-CN" altLang="en-US" sz="3000" b="1">
              <a:solidFill>
                <a:srgbClr val="142D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2793B6-4DCC-E129-4340-E16163B0A065}"/>
              </a:ext>
            </a:extLst>
          </p:cNvPr>
          <p:cNvSpPr txBox="1"/>
          <p:nvPr/>
        </p:nvSpPr>
        <p:spPr>
          <a:xfrm>
            <a:off x="584200" y="965200"/>
            <a:ext cx="9906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300">
                <a:solidFill>
                  <a:srgbClr val="546070"/>
                </a:solidFill>
                <a:latin typeface="Aptos" panose="020B0004020202020204" pitchFamily="34" charset="0"/>
              </a:rPr>
              <a:t>Time-split evaluation shows strong occupancy prediction performance</a:t>
            </a:r>
            <a:endParaRPr lang="zh-CN" altLang="en-US" sz="13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0C5ED3-3C53-788A-364A-43720AD83B9A}"/>
              </a:ext>
            </a:extLst>
          </p:cNvPr>
          <p:cNvSpPr txBox="1"/>
          <p:nvPr/>
        </p:nvSpPr>
        <p:spPr>
          <a:xfrm>
            <a:off x="558800" y="6413500"/>
            <a:ext cx="10414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altLang="zh-CN" sz="850">
                <a:solidFill>
                  <a:srgbClr val="546070"/>
                </a:solidFill>
                <a:latin typeface="Aptos" panose="020B0004020202020204" pitchFamily="34" charset="0"/>
              </a:rPr>
              <a:t>OccuEVRoute | DI22001 Algorithms and AI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BFFA95-461A-9DDF-AEC8-3493853A5EB2}"/>
              </a:ext>
            </a:extLst>
          </p:cNvPr>
          <p:cNvSpPr txBox="1"/>
          <p:nvPr/>
        </p:nvSpPr>
        <p:spPr>
          <a:xfrm>
            <a:off x="11303000" y="6413500"/>
            <a:ext cx="50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850">
                <a:solidFill>
                  <a:srgbClr val="546070"/>
                </a:solidFill>
                <a:latin typeface="Aptos" panose="020B0004020202020204" pitchFamily="34" charset="0"/>
              </a:rPr>
              <a:t>8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D1DC30F-9250-4B30-04EE-A0880FFF6898}"/>
              </a:ext>
            </a:extLst>
          </p:cNvPr>
          <p:cNvSpPr/>
          <p:nvPr/>
        </p:nvSpPr>
        <p:spPr>
          <a:xfrm>
            <a:off x="736600" y="1460500"/>
            <a:ext cx="2286000" cy="1041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39D1A9-7AFA-472A-C041-C1EB59FAEC00}"/>
              </a:ext>
            </a:extLst>
          </p:cNvPr>
          <p:cNvSpPr/>
          <p:nvPr/>
        </p:nvSpPr>
        <p:spPr>
          <a:xfrm>
            <a:off x="736600" y="1460500"/>
            <a:ext cx="76200" cy="10414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06D149-EE86-743C-6028-1AE9899BC3FE}"/>
              </a:ext>
            </a:extLst>
          </p:cNvPr>
          <p:cNvSpPr txBox="1"/>
          <p:nvPr/>
        </p:nvSpPr>
        <p:spPr>
          <a:xfrm>
            <a:off x="965200" y="1638300"/>
            <a:ext cx="1930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Overall R2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2A2AE1-7958-F450-A4EE-2EAB857D1E14}"/>
              </a:ext>
            </a:extLst>
          </p:cNvPr>
          <p:cNvSpPr txBox="1"/>
          <p:nvPr/>
        </p:nvSpPr>
        <p:spPr>
          <a:xfrm>
            <a:off x="965200" y="2019300"/>
            <a:ext cx="19304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0.948742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A1BA223-4C6B-EAC6-50C6-B37026DF3EB3}"/>
              </a:ext>
            </a:extLst>
          </p:cNvPr>
          <p:cNvSpPr/>
          <p:nvPr/>
        </p:nvSpPr>
        <p:spPr>
          <a:xfrm>
            <a:off x="3403600" y="1460500"/>
            <a:ext cx="2794000" cy="1041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605474-0EC4-9410-C4AA-EA65FB32E488}"/>
              </a:ext>
            </a:extLst>
          </p:cNvPr>
          <p:cNvSpPr/>
          <p:nvPr/>
        </p:nvSpPr>
        <p:spPr>
          <a:xfrm>
            <a:off x="3403600" y="1460500"/>
            <a:ext cx="76200" cy="1041400"/>
          </a:xfrm>
          <a:prstGeom prst="rect">
            <a:avLst/>
          </a:prstGeom>
          <a:solidFill>
            <a:srgbClr val="4491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6AF1CC-26A2-8785-66E6-9D5A7C7ECD87}"/>
              </a:ext>
            </a:extLst>
          </p:cNvPr>
          <p:cNvSpPr txBox="1"/>
          <p:nvPr/>
        </p:nvSpPr>
        <p:spPr>
          <a:xfrm>
            <a:off x="3632200" y="1638300"/>
            <a:ext cx="2438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Overall MAE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256AA9-6C57-56AB-2D7D-64A5E8912249}"/>
              </a:ext>
            </a:extLst>
          </p:cNvPr>
          <p:cNvSpPr txBox="1"/>
          <p:nvPr/>
        </p:nvSpPr>
        <p:spPr>
          <a:xfrm>
            <a:off x="3632200" y="2019300"/>
            <a:ext cx="24384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0.024937, around 2.5 percentage points.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3B3973C-995F-FB43-0357-E8D9EFE7459D}"/>
              </a:ext>
            </a:extLst>
          </p:cNvPr>
          <p:cNvSpPr/>
          <p:nvPr/>
        </p:nvSpPr>
        <p:spPr>
          <a:xfrm>
            <a:off x="6578600" y="1460500"/>
            <a:ext cx="2159000" cy="1041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DA609E-F50B-0D65-AEFA-54D2EC2F3084}"/>
              </a:ext>
            </a:extLst>
          </p:cNvPr>
          <p:cNvSpPr/>
          <p:nvPr/>
        </p:nvSpPr>
        <p:spPr>
          <a:xfrm>
            <a:off x="6578600" y="1460500"/>
            <a:ext cx="76200" cy="1041400"/>
          </a:xfrm>
          <a:prstGeom prst="rect">
            <a:avLst/>
          </a:prstGeom>
          <a:solidFill>
            <a:srgbClr val="2A6F9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02E2F8-0E33-E795-C5DC-DBAB41434D8B}"/>
              </a:ext>
            </a:extLst>
          </p:cNvPr>
          <p:cNvSpPr txBox="1"/>
          <p:nvPr/>
        </p:nvSpPr>
        <p:spPr>
          <a:xfrm>
            <a:off x="6807200" y="1638300"/>
            <a:ext cx="1803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5 min R2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E7C91F-D88C-7047-44BB-DD171CE5D03B}"/>
              </a:ext>
            </a:extLst>
          </p:cNvPr>
          <p:cNvSpPr txBox="1"/>
          <p:nvPr/>
        </p:nvSpPr>
        <p:spPr>
          <a:xfrm>
            <a:off x="6807200" y="2019300"/>
            <a:ext cx="18034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0.9790, strongest at short horizon.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CDFED77-8884-8C78-D23E-8127DFB4F03B}"/>
              </a:ext>
            </a:extLst>
          </p:cNvPr>
          <p:cNvSpPr/>
          <p:nvPr/>
        </p:nvSpPr>
        <p:spPr>
          <a:xfrm>
            <a:off x="9118600" y="1460500"/>
            <a:ext cx="2413000" cy="1041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550B4FC-6482-6238-F23C-C6A440FCC80F}"/>
              </a:ext>
            </a:extLst>
          </p:cNvPr>
          <p:cNvSpPr/>
          <p:nvPr/>
        </p:nvSpPr>
        <p:spPr>
          <a:xfrm>
            <a:off x="9118600" y="1460500"/>
            <a:ext cx="76200" cy="1041400"/>
          </a:xfrm>
          <a:prstGeom prst="rect">
            <a:avLst/>
          </a:prstGeom>
          <a:solidFill>
            <a:srgbClr val="BC53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B07C5D-5F91-7E60-D181-0003A98C29C2}"/>
              </a:ext>
            </a:extLst>
          </p:cNvPr>
          <p:cNvSpPr txBox="1"/>
          <p:nvPr/>
        </p:nvSpPr>
        <p:spPr>
          <a:xfrm>
            <a:off x="9347200" y="1638300"/>
            <a:ext cx="2057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120 min R2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3EBFA8-A1D3-18AB-2292-BB7DF14C3ECB}"/>
              </a:ext>
            </a:extLst>
          </p:cNvPr>
          <p:cNvSpPr txBox="1"/>
          <p:nvPr/>
        </p:nvSpPr>
        <p:spPr>
          <a:xfrm>
            <a:off x="9347200" y="2019300"/>
            <a:ext cx="20574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0.8894, lower but still useful.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D439CED-83E2-BE0D-1967-E5316D5C67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" y="3175000"/>
            <a:ext cx="5334000" cy="3111500"/>
          </a:xfrm>
          <a:prstGeom prst="rect">
            <a:avLst/>
          </a:prstGeom>
          <a:ln/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6786951B-5DA7-5A0C-AE70-AC108A63C792}"/>
              </a:ext>
            </a:extLst>
          </p:cNvPr>
          <p:cNvSpPr txBox="1"/>
          <p:nvPr/>
        </p:nvSpPr>
        <p:spPr>
          <a:xfrm>
            <a:off x="6604000" y="29210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142D4E"/>
                </a:solidFill>
                <a:latin typeface="Aptos" panose="020B0004020202020204" pitchFamily="34" charset="0"/>
              </a:rPr>
              <a:t>Interpretation</a:t>
            </a:r>
            <a:endParaRPr lang="zh-CN" altLang="en-US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77485B0-E93C-4F58-654A-A3A8CD96452C}"/>
              </a:ext>
            </a:extLst>
          </p:cNvPr>
          <p:cNvSpPr txBox="1"/>
          <p:nvPr/>
        </p:nvSpPr>
        <p:spPr>
          <a:xfrm>
            <a:off x="6604000" y="3403600"/>
            <a:ext cx="4699000" cy="103618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zh-CN" sz="1350">
                <a:solidFill>
                  <a:srgbClr val="121820"/>
                </a:solidFill>
                <a:latin typeface="Aptos" panose="020B0004020202020204" pitchFamily="34" charset="0"/>
              </a:rPr>
              <a:t>- Shorter horizons are more accurate</a:t>
            </a:r>
          </a:p>
          <a:p>
            <a:pPr>
              <a:spcAft>
                <a:spcPts val="800"/>
              </a:spcAft>
            </a:pPr>
            <a:r>
              <a:rPr lang="en-US" altLang="zh-CN" sz="1350">
                <a:solidFill>
                  <a:srgbClr val="121820"/>
                </a:solidFill>
                <a:latin typeface="Aptos" panose="020B0004020202020204" pitchFamily="34" charset="0"/>
              </a:rPr>
              <a:t>- Lag and historical station profiles are important</a:t>
            </a:r>
          </a:p>
          <a:p>
            <a:pPr>
              <a:spcAft>
                <a:spcPts val="800"/>
              </a:spcAft>
            </a:pPr>
            <a:r>
              <a:rPr lang="en-US" altLang="zh-CN" sz="1350">
                <a:solidFill>
                  <a:srgbClr val="121820"/>
                </a:solidFill>
                <a:latin typeface="Aptos" panose="020B0004020202020204" pitchFamily="34" charset="0"/>
              </a:rPr>
              <a:t>- MAE should be explained in occupancy-rate units, not only as a model score</a:t>
            </a:r>
            <a:endParaRPr lang="zh-CN" altLang="en-US" sz="1350">
              <a:solidFill>
                <a:srgbClr val="121820"/>
              </a:solidFill>
              <a:latin typeface="Aptos" panose="020B00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FE1273-1B1B-D63B-84EF-30CD55C32B94}"/>
              </a:ext>
            </a:extLst>
          </p:cNvPr>
          <p:cNvSpPr/>
          <p:nvPr/>
        </p:nvSpPr>
        <p:spPr>
          <a:xfrm>
            <a:off x="7162800" y="5435600"/>
            <a:ext cx="3632200" cy="482600"/>
          </a:xfrm>
          <a:prstGeom prst="rect">
            <a:avLst/>
          </a:prstGeom>
          <a:noFill/>
          <a:ln w="12700" cap="flat" cmpd="sng" algn="ctr">
            <a:solidFill>
              <a:srgbClr val="D8E0E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DBB2941-32E2-4D7A-99FC-5B20D176ACAD}"/>
              </a:ext>
            </a:extLst>
          </p:cNvPr>
          <p:cNvCxnSpPr/>
          <p:nvPr/>
        </p:nvCxnSpPr>
        <p:spPr>
          <a:xfrm>
            <a:off x="7162800" y="5483947"/>
            <a:ext cx="157921" cy="24528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21D6EC7-B748-37EF-75CF-C8D60452B85E}"/>
              </a:ext>
            </a:extLst>
          </p:cNvPr>
          <p:cNvCxnSpPr/>
          <p:nvPr/>
        </p:nvCxnSpPr>
        <p:spPr>
          <a:xfrm>
            <a:off x="7320721" y="5508475"/>
            <a:ext cx="157923" cy="12291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180A0E3-2AA2-78D0-F5E4-423D569F53AC}"/>
              </a:ext>
            </a:extLst>
          </p:cNvPr>
          <p:cNvCxnSpPr/>
          <p:nvPr/>
        </p:nvCxnSpPr>
        <p:spPr>
          <a:xfrm>
            <a:off x="7478644" y="5520766"/>
            <a:ext cx="157921" cy="24711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A023F9B-5F64-CF03-60AE-F313BC776B3B}"/>
              </a:ext>
            </a:extLst>
          </p:cNvPr>
          <p:cNvCxnSpPr/>
          <p:nvPr/>
        </p:nvCxnSpPr>
        <p:spPr>
          <a:xfrm>
            <a:off x="7636565" y="5545477"/>
            <a:ext cx="315843" cy="19417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C34420D-9FBF-B26E-3237-5566FC443869}"/>
              </a:ext>
            </a:extLst>
          </p:cNvPr>
          <p:cNvCxnSpPr/>
          <p:nvPr/>
        </p:nvCxnSpPr>
        <p:spPr>
          <a:xfrm>
            <a:off x="7952408" y="5564894"/>
            <a:ext cx="473766" cy="27964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E996BE2-F409-7B2D-A9D3-FFBC67C40CF5}"/>
              </a:ext>
            </a:extLst>
          </p:cNvPr>
          <p:cNvCxnSpPr/>
          <p:nvPr/>
        </p:nvCxnSpPr>
        <p:spPr>
          <a:xfrm>
            <a:off x="8426174" y="5592858"/>
            <a:ext cx="473765" cy="71523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2A05C47-0666-B23B-DA43-FA44331851BA}"/>
              </a:ext>
            </a:extLst>
          </p:cNvPr>
          <p:cNvCxnSpPr/>
          <p:nvPr/>
        </p:nvCxnSpPr>
        <p:spPr>
          <a:xfrm>
            <a:off x="8899939" y="5664381"/>
            <a:ext cx="947530" cy="122560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3D5348E-FB23-4088-177A-51B1C92B84BA}"/>
              </a:ext>
            </a:extLst>
          </p:cNvPr>
          <p:cNvCxnSpPr/>
          <p:nvPr/>
        </p:nvCxnSpPr>
        <p:spPr>
          <a:xfrm>
            <a:off x="9847469" y="5786941"/>
            <a:ext cx="947531" cy="89851"/>
          </a:xfrm>
          <a:prstGeom prst="line">
            <a:avLst/>
          </a:prstGeom>
          <a:ln w="17780">
            <a:solidFill>
              <a:srgbClr val="5460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ADD3602D-BADB-E91E-D8F7-E9AF49432C42}"/>
              </a:ext>
            </a:extLst>
          </p:cNvPr>
          <p:cNvSpPr/>
          <p:nvPr/>
        </p:nvSpPr>
        <p:spPr>
          <a:xfrm>
            <a:off x="7118350" y="5439497"/>
            <a:ext cx="88900" cy="88900"/>
          </a:xfrm>
          <a:prstGeom prst="ellipse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87DA749F-2012-6491-B932-7E9EDF827FA1}"/>
              </a:ext>
            </a:extLst>
          </p:cNvPr>
          <p:cNvSpPr/>
          <p:nvPr/>
        </p:nvSpPr>
        <p:spPr>
          <a:xfrm>
            <a:off x="7276271" y="5464025"/>
            <a:ext cx="88900" cy="88900"/>
          </a:xfrm>
          <a:prstGeom prst="ellipse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FD83A995-DD40-289A-D389-E00DD5CB0593}"/>
              </a:ext>
            </a:extLst>
          </p:cNvPr>
          <p:cNvSpPr/>
          <p:nvPr/>
        </p:nvSpPr>
        <p:spPr>
          <a:xfrm>
            <a:off x="7434194" y="5476316"/>
            <a:ext cx="88900" cy="88900"/>
          </a:xfrm>
          <a:prstGeom prst="ellipse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5AE22D12-1BAF-B9AB-0DEC-0644B289133A}"/>
              </a:ext>
            </a:extLst>
          </p:cNvPr>
          <p:cNvSpPr/>
          <p:nvPr/>
        </p:nvSpPr>
        <p:spPr>
          <a:xfrm>
            <a:off x="7592115" y="5501027"/>
            <a:ext cx="88900" cy="88900"/>
          </a:xfrm>
          <a:prstGeom prst="ellipse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65378A6F-F176-5DA4-2E13-A49A032827E6}"/>
              </a:ext>
            </a:extLst>
          </p:cNvPr>
          <p:cNvSpPr/>
          <p:nvPr/>
        </p:nvSpPr>
        <p:spPr>
          <a:xfrm>
            <a:off x="7907958" y="5520444"/>
            <a:ext cx="88900" cy="88900"/>
          </a:xfrm>
          <a:prstGeom prst="ellipse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F13DF130-6AF2-9518-B026-54949827A6EE}"/>
              </a:ext>
            </a:extLst>
          </p:cNvPr>
          <p:cNvSpPr/>
          <p:nvPr/>
        </p:nvSpPr>
        <p:spPr>
          <a:xfrm>
            <a:off x="8381724" y="5548408"/>
            <a:ext cx="88900" cy="88900"/>
          </a:xfrm>
          <a:prstGeom prst="ellipse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4399B1FF-4205-B4AA-5528-3962884A6E7E}"/>
              </a:ext>
            </a:extLst>
          </p:cNvPr>
          <p:cNvSpPr/>
          <p:nvPr/>
        </p:nvSpPr>
        <p:spPr>
          <a:xfrm>
            <a:off x="8855489" y="5619931"/>
            <a:ext cx="88900" cy="88900"/>
          </a:xfrm>
          <a:prstGeom prst="ellipse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7400492B-4813-0E6D-6300-9286F94F9C28}"/>
              </a:ext>
            </a:extLst>
          </p:cNvPr>
          <p:cNvSpPr/>
          <p:nvPr/>
        </p:nvSpPr>
        <p:spPr>
          <a:xfrm>
            <a:off x="9803019" y="5742491"/>
            <a:ext cx="88900" cy="88900"/>
          </a:xfrm>
          <a:prstGeom prst="ellipse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B2A640E1-2B0F-C5F3-657D-4EBB1C1FED98}"/>
              </a:ext>
            </a:extLst>
          </p:cNvPr>
          <p:cNvSpPr/>
          <p:nvPr/>
        </p:nvSpPr>
        <p:spPr>
          <a:xfrm>
            <a:off x="10750550" y="5832342"/>
            <a:ext cx="88900" cy="88900"/>
          </a:xfrm>
          <a:prstGeom prst="ellipse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E718FB3-63C3-3637-4FD3-4EE21B9EE9BB}"/>
              </a:ext>
            </a:extLst>
          </p:cNvPr>
          <p:cNvSpPr txBox="1"/>
          <p:nvPr/>
        </p:nvSpPr>
        <p:spPr>
          <a:xfrm>
            <a:off x="6604000" y="4927600"/>
            <a:ext cx="4445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300" b="1">
                <a:solidFill>
                  <a:srgbClr val="142D4E"/>
                </a:solidFill>
                <a:latin typeface="Aptos" panose="020B0004020202020204" pitchFamily="34" charset="0"/>
              </a:rPr>
              <a:t>R2 by prediction horizon</a:t>
            </a:r>
            <a:endParaRPr lang="zh-CN" altLang="en-US" sz="13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14FD785-8072-49F1-70AA-275E3C276EE0}"/>
              </a:ext>
            </a:extLst>
          </p:cNvPr>
          <p:cNvSpPr txBox="1"/>
          <p:nvPr/>
        </p:nvSpPr>
        <p:spPr>
          <a:xfrm>
            <a:off x="7086600" y="6019800"/>
            <a:ext cx="571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46070"/>
                </a:solidFill>
                <a:latin typeface="Aptos" panose="020B0004020202020204" pitchFamily="34" charset="0"/>
              </a:rPr>
              <a:t>5 min</a:t>
            </a:r>
            <a:endParaRPr lang="zh-CN" altLang="en-US" sz="9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94887C9-C0FC-4E56-21CE-1B8591024C19}"/>
              </a:ext>
            </a:extLst>
          </p:cNvPr>
          <p:cNvSpPr txBox="1"/>
          <p:nvPr/>
        </p:nvSpPr>
        <p:spPr>
          <a:xfrm>
            <a:off x="10261600" y="6019800"/>
            <a:ext cx="698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46070"/>
                </a:solidFill>
                <a:latin typeface="Aptos" panose="020B0004020202020204" pitchFamily="34" charset="0"/>
              </a:rPr>
              <a:t>120 min</a:t>
            </a:r>
            <a:endParaRPr lang="zh-CN" altLang="en-US" sz="9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2730C2D-7E92-95D5-B410-7FF3789B3136}"/>
              </a:ext>
            </a:extLst>
          </p:cNvPr>
          <p:cNvSpPr txBox="1"/>
          <p:nvPr/>
        </p:nvSpPr>
        <p:spPr>
          <a:xfrm>
            <a:off x="6680200" y="5397500"/>
            <a:ext cx="38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46070"/>
                </a:solidFill>
                <a:latin typeface="Aptos" panose="020B0004020202020204" pitchFamily="34" charset="0"/>
              </a:rPr>
              <a:t>0.99</a:t>
            </a:r>
            <a:endParaRPr lang="zh-CN" altLang="en-US" sz="9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7236EB7-8276-AAAA-10C1-1C027BE1EAE5}"/>
              </a:ext>
            </a:extLst>
          </p:cNvPr>
          <p:cNvSpPr txBox="1"/>
          <p:nvPr/>
        </p:nvSpPr>
        <p:spPr>
          <a:xfrm>
            <a:off x="6680200" y="5791200"/>
            <a:ext cx="38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00">
                <a:solidFill>
                  <a:srgbClr val="546070"/>
                </a:solidFill>
                <a:latin typeface="Aptos" panose="020B0004020202020204" pitchFamily="34" charset="0"/>
              </a:rPr>
              <a:t>0.88</a:t>
            </a:r>
            <a:endParaRPr lang="zh-CN" altLang="en-US" sz="9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891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30EC92-6E08-CA30-2F02-F6F5B4EBDF8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CEBFC0-F1D1-7CF2-977C-DEEC833C03FB}"/>
              </a:ext>
            </a:extLst>
          </p:cNvPr>
          <p:cNvSpPr txBox="1"/>
          <p:nvPr/>
        </p:nvSpPr>
        <p:spPr>
          <a:xfrm>
            <a:off x="558800" y="355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42D4E"/>
                </a:solidFill>
                <a:latin typeface="Aptos Display" panose="020B0004020202020204" pitchFamily="34" charset="0"/>
              </a:rPr>
              <a:t>Performance and Complexity</a:t>
            </a:r>
            <a:endParaRPr lang="zh-CN" altLang="en-US" sz="3000" b="1">
              <a:solidFill>
                <a:srgbClr val="142D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7F9752-E1F8-581F-0006-DDEBECC72903}"/>
              </a:ext>
            </a:extLst>
          </p:cNvPr>
          <p:cNvSpPr txBox="1"/>
          <p:nvPr/>
        </p:nvSpPr>
        <p:spPr>
          <a:xfrm>
            <a:off x="584200" y="965200"/>
            <a:ext cx="9906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300">
                <a:solidFill>
                  <a:srgbClr val="546070"/>
                </a:solidFill>
                <a:latin typeface="Aptos" panose="020B0004020202020204" pitchFamily="34" charset="0"/>
              </a:rPr>
              <a:t>Results should be explained together with algorithmic trade-offs</a:t>
            </a:r>
            <a:endParaRPr lang="zh-CN" altLang="en-US" sz="13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A55AA1-9E91-F420-4DD1-D167402A71FB}"/>
              </a:ext>
            </a:extLst>
          </p:cNvPr>
          <p:cNvSpPr txBox="1"/>
          <p:nvPr/>
        </p:nvSpPr>
        <p:spPr>
          <a:xfrm>
            <a:off x="558800" y="6413500"/>
            <a:ext cx="10414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altLang="zh-CN" sz="850">
                <a:solidFill>
                  <a:srgbClr val="546070"/>
                </a:solidFill>
                <a:latin typeface="Aptos" panose="020B0004020202020204" pitchFamily="34" charset="0"/>
              </a:rPr>
              <a:t>OccuEVRoute | DI22001 Algorithms and AI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872C38-E2F6-0507-D8BB-907F64F4F5D4}"/>
              </a:ext>
            </a:extLst>
          </p:cNvPr>
          <p:cNvSpPr txBox="1"/>
          <p:nvPr/>
        </p:nvSpPr>
        <p:spPr>
          <a:xfrm>
            <a:off x="11303000" y="6413500"/>
            <a:ext cx="50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850">
                <a:solidFill>
                  <a:srgbClr val="546070"/>
                </a:solidFill>
                <a:latin typeface="Aptos" panose="020B0004020202020204" pitchFamily="34" charset="0"/>
              </a:rPr>
              <a:t>9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981694F-3CAF-9A22-5878-54505511246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498600"/>
            <a:ext cx="10871200" cy="4572000"/>
          </a:xfrm>
          <a:prstGeom prst="rect">
            <a:avLst/>
          </a:prstGeom>
          <a:ln/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97FFE88-6EFE-14F4-6271-C1F960972328}"/>
              </a:ext>
            </a:extLst>
          </p:cNvPr>
          <p:cNvSpPr txBox="1"/>
          <p:nvPr/>
        </p:nvSpPr>
        <p:spPr>
          <a:xfrm>
            <a:off x="736600" y="6223000"/>
            <a:ext cx="10541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 b="1">
                <a:solidFill>
                  <a:srgbClr val="142D4E"/>
                </a:solidFill>
                <a:latin typeface="Aptos" panose="020B0004020202020204" pitchFamily="34" charset="0"/>
              </a:rPr>
              <a:t>Counting: expanded_nodes means popped / settled nodes; bidirectional methods count both frontiers; CH counts upward-graph settled nodes.</a:t>
            </a:r>
            <a:endParaRPr lang="zh-CN" altLang="en-US" sz="125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315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F68E66-F473-9F7D-9D0E-5D5C5A6832D7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1583EE-9E86-8F0F-CA15-3BBA0067B1FD}"/>
              </a:ext>
            </a:extLst>
          </p:cNvPr>
          <p:cNvSpPr txBox="1"/>
          <p:nvPr/>
        </p:nvSpPr>
        <p:spPr>
          <a:xfrm>
            <a:off x="558800" y="355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42D4E"/>
                </a:solidFill>
                <a:latin typeface="Aptos Display" panose="020B0004020202020204" pitchFamily="34" charset="0"/>
              </a:rPr>
              <a:t>Limitations and Conclusion</a:t>
            </a:r>
            <a:endParaRPr lang="zh-CN" altLang="en-US" sz="3000" b="1">
              <a:solidFill>
                <a:srgbClr val="142D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C6136F-B3BE-35D3-F734-16607A1FAD56}"/>
              </a:ext>
            </a:extLst>
          </p:cNvPr>
          <p:cNvSpPr txBox="1"/>
          <p:nvPr/>
        </p:nvSpPr>
        <p:spPr>
          <a:xfrm>
            <a:off x="584200" y="965200"/>
            <a:ext cx="990600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zh-CN" sz="1300">
                <a:solidFill>
                  <a:srgbClr val="546070"/>
                </a:solidFill>
                <a:latin typeface="Aptos" panose="020B0004020202020204" pitchFamily="34" charset="0"/>
              </a:rPr>
              <a:t>A clear scope makes the project easier to defend</a:t>
            </a:r>
            <a:endParaRPr lang="zh-CN" altLang="en-US" sz="130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F40A3D-1A33-CEF7-7890-F4812C36F094}"/>
              </a:ext>
            </a:extLst>
          </p:cNvPr>
          <p:cNvSpPr txBox="1"/>
          <p:nvPr/>
        </p:nvSpPr>
        <p:spPr>
          <a:xfrm>
            <a:off x="558800" y="6413500"/>
            <a:ext cx="10414000" cy="17697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it-IT" altLang="zh-CN" sz="850">
                <a:solidFill>
                  <a:srgbClr val="546070"/>
                </a:solidFill>
                <a:latin typeface="Aptos" panose="020B0004020202020204" pitchFamily="34" charset="0"/>
              </a:rPr>
              <a:t>OccuEVRoute | DI22001 Algorithms and AI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81908A-758B-E881-1A5A-AAD67FBB6F40}"/>
              </a:ext>
            </a:extLst>
          </p:cNvPr>
          <p:cNvSpPr txBox="1"/>
          <p:nvPr/>
        </p:nvSpPr>
        <p:spPr>
          <a:xfrm>
            <a:off x="11303000" y="6413500"/>
            <a:ext cx="508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CN" sz="850">
                <a:solidFill>
                  <a:srgbClr val="546070"/>
                </a:solidFill>
                <a:latin typeface="Aptos" panose="020B0004020202020204" pitchFamily="34" charset="0"/>
              </a:rPr>
              <a:t>10</a:t>
            </a:r>
            <a:endParaRPr lang="zh-CN" altLang="en-US" sz="8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0BB5B90-2B12-5DAD-6099-463C0E680407}"/>
              </a:ext>
            </a:extLst>
          </p:cNvPr>
          <p:cNvSpPr/>
          <p:nvPr/>
        </p:nvSpPr>
        <p:spPr>
          <a:xfrm>
            <a:off x="736600" y="1600200"/>
            <a:ext cx="4953000" cy="19558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119083-31D8-76F6-3704-DB7B5DDAA1E8}"/>
              </a:ext>
            </a:extLst>
          </p:cNvPr>
          <p:cNvSpPr/>
          <p:nvPr/>
        </p:nvSpPr>
        <p:spPr>
          <a:xfrm>
            <a:off x="736600" y="1600200"/>
            <a:ext cx="76200" cy="1955800"/>
          </a:xfrm>
          <a:prstGeom prst="rect">
            <a:avLst/>
          </a:prstGeom>
          <a:solidFill>
            <a:srgbClr val="BC534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BFB032-050D-3F0B-D723-34DB5805454A}"/>
              </a:ext>
            </a:extLst>
          </p:cNvPr>
          <p:cNvSpPr txBox="1"/>
          <p:nvPr/>
        </p:nvSpPr>
        <p:spPr>
          <a:xfrm>
            <a:off x="965200" y="1778000"/>
            <a:ext cx="4597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Limitations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9B7565-DB36-F4F9-482A-805D79D213A6}"/>
              </a:ext>
            </a:extLst>
          </p:cNvPr>
          <p:cNvSpPr txBox="1"/>
          <p:nvPr/>
        </p:nvSpPr>
        <p:spPr>
          <a:xfrm>
            <a:off x="965200" y="2159000"/>
            <a:ext cx="45974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No real waiting-time labels; occupancy is only congestion risk. No real-time traffic, live queue state, or charger-power dynamics.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0B865F0-5ED0-9F84-6CDA-CC5256710504}"/>
              </a:ext>
            </a:extLst>
          </p:cNvPr>
          <p:cNvSpPr/>
          <p:nvPr/>
        </p:nvSpPr>
        <p:spPr>
          <a:xfrm>
            <a:off x="6477000" y="1600200"/>
            <a:ext cx="4953000" cy="19558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D8E0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73B243-87F4-C3E1-F1CE-6074F94E74AC}"/>
              </a:ext>
            </a:extLst>
          </p:cNvPr>
          <p:cNvSpPr/>
          <p:nvPr/>
        </p:nvSpPr>
        <p:spPr>
          <a:xfrm>
            <a:off x="6477000" y="1600200"/>
            <a:ext cx="76200" cy="1955800"/>
          </a:xfrm>
          <a:prstGeom prst="rect">
            <a:avLst/>
          </a:prstGeom>
          <a:solidFill>
            <a:srgbClr val="2E8B8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37CD2B-2165-A011-DB2A-C165B2646018}"/>
              </a:ext>
            </a:extLst>
          </p:cNvPr>
          <p:cNvSpPr txBox="1"/>
          <p:nvPr/>
        </p:nvSpPr>
        <p:spPr>
          <a:xfrm>
            <a:off x="6705600" y="1778000"/>
            <a:ext cx="45974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500" b="1">
                <a:solidFill>
                  <a:srgbClr val="142D4E"/>
                </a:solidFill>
                <a:latin typeface="Aptos" panose="020B0004020202020204" pitchFamily="34" charset="0"/>
              </a:rPr>
              <a:t>Future work</a:t>
            </a:r>
            <a:endParaRPr lang="zh-CN" altLang="en-US" sz="15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64F369D-9BA4-74B6-F7AB-905774847761}"/>
              </a:ext>
            </a:extLst>
          </p:cNvPr>
          <p:cNvSpPr txBox="1"/>
          <p:nvPr/>
        </p:nvSpPr>
        <p:spPr>
          <a:xfrm>
            <a:off x="6705600" y="2159000"/>
            <a:ext cx="4597400" cy="57708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Tune the congestion-risk weight, add live operational signals, and evaluate ranking behavior with user preference or real charging outcomes.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1C267EC-093C-3DBD-3DC5-BF170521D5C8}"/>
              </a:ext>
            </a:extLst>
          </p:cNvPr>
          <p:cNvSpPr txBox="1"/>
          <p:nvPr/>
        </p:nvSpPr>
        <p:spPr>
          <a:xfrm>
            <a:off x="736600" y="4191000"/>
            <a:ext cx="31750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142D4E"/>
                </a:solidFill>
                <a:latin typeface="Aptos" panose="020B0004020202020204" pitchFamily="34" charset="0"/>
              </a:rPr>
              <a:t>Conclusion</a:t>
            </a:r>
            <a:endParaRPr lang="zh-CN" altLang="en-US" sz="2000" b="1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DAD8062-A3EC-2AB4-B9A8-A3DA4ECF3467}"/>
              </a:ext>
            </a:extLst>
          </p:cNvPr>
          <p:cNvSpPr txBox="1"/>
          <p:nvPr/>
        </p:nvSpPr>
        <p:spPr>
          <a:xfrm>
            <a:off x="736600" y="4724400"/>
            <a:ext cx="105410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>
                <a:solidFill>
                  <a:srgbClr val="142D4E"/>
                </a:solidFill>
                <a:latin typeface="Aptos" panose="020B0004020202020204" pitchFamily="34" charset="0"/>
              </a:rPr>
              <a:t>OccuEVRoute integrates graph search, EV feasibility constraints, ML occupancy prediction, and explainable ranking into a coherent course-demo route planning system.</a:t>
            </a:r>
            <a:endParaRPr lang="zh-CN" altLang="en-US">
              <a:solidFill>
                <a:srgbClr val="142D4E"/>
              </a:solidFill>
              <a:latin typeface="Aptos" panose="020B00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FB5597-C8CD-ED72-49CD-7252090F3BDF}"/>
              </a:ext>
            </a:extLst>
          </p:cNvPr>
          <p:cNvSpPr txBox="1"/>
          <p:nvPr/>
        </p:nvSpPr>
        <p:spPr>
          <a:xfrm>
            <a:off x="736600" y="5778500"/>
            <a:ext cx="10541000" cy="19236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46070"/>
                </a:solidFill>
                <a:latin typeface="Aptos" panose="020B0004020202020204" pitchFamily="34" charset="0"/>
              </a:rPr>
              <a:t>Q&amp;A reminders: occupancy is not waiting time; ranking is heuristic and explainable; CH is an acceleration method, not a new objective function.</a:t>
            </a:r>
            <a:endParaRPr lang="zh-CN" altLang="en-US" sz="1250">
              <a:solidFill>
                <a:srgbClr val="54607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40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</Words>
  <Application>Microsoft Office PowerPoint</Application>
  <PresentationFormat>自定义</PresentationFormat>
  <Paragraphs>105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晨曦 伊始</dc:creator>
  <cp:lastModifiedBy>晨曦 伊始</cp:lastModifiedBy>
  <cp:revision>1</cp:revision>
  <dcterms:created xsi:type="dcterms:W3CDTF">2026-05-24T15:49:10Z</dcterms:created>
  <dcterms:modified xsi:type="dcterms:W3CDTF">2026-05-24T15:49:10Z</dcterms:modified>
</cp:coreProperties>
</file>